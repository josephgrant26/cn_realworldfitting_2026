
<file path=[Content_Types].xml><?xml version="1.0" encoding="utf-8"?>
<Types xmlns="http://schemas.openxmlformats.org/package/2006/content-types">
  <Default Extension="0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2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cardo Contesso" initials="RC" lastIdx="2" clrIdx="0">
    <p:extLst>
      <p:ext uri="{19B8F6BF-5375-455C-9EA6-DF929625EA0E}">
        <p15:presenceInfo xmlns:p15="http://schemas.microsoft.com/office/powerpoint/2012/main" userId="1d5f6b248a4f97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4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Stile scuro 2 - Colore 1/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1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1T19:14:10.384" idx="1">
    <p:pos x="3464" y="1782"/>
    <p:text>Il modello utilizza sia il seno che il coseno per rappresentare una generica oscillazione periodica; l’uso di entrambi ci permette di descrivere un qualsiasi sinusoide con fase ed ampiezza arbitrarie.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1T19:38:11.349" idx="2">
    <p:pos x="1251" y="2596"/>
    <p:text>*Polinomiale di 3o grado: è un modello semplice ma non rappresenta bene la ciclicità.
*grado 28: è flessibile ma ha troppi parametri, possibile comparsa di Runge e non è utile per rappresentare i dati
*sinusoide: ciclica e pochi parametri, ma descrive poveramente i picchi.
*fourier: periodica, più flessibile della sinusoidale.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3971E-0817-4E87-8E70-69FE58C0A69C}" type="datetimeFigureOut">
              <a:rPr lang="LID4096" smtClean="0"/>
              <a:t>06/02/2026</a:t>
            </a:fld>
            <a:endParaRPr lang="LID4096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LID4096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9EC499-DD41-4CE0-AC5F-74FC1D44F42D}" type="slidenum">
              <a:rPr lang="LID4096" smtClean="0"/>
              <a:t>‹N›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188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EC499-DD41-4CE0-AC5F-74FC1D44F42D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4721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moutlook.com/beyond-local/sunspots-and-solar-flares-created-by-the-suns-magnetism-can-affect-the-earths-surface-9817753" TargetMode="External"/><Relationship Id="rId2" Type="http://schemas.openxmlformats.org/officeDocument/2006/relationships/image" Target="../media/image6.0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FB96ED-2008-8335-31DD-EE6812C08D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noProof="0" dirty="0"/>
              <a:t>Approssimazione di dati reali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F90A810-24EA-0762-40E3-FFC49403BF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noProof="0" dirty="0"/>
              <a:t>Progetto di Calcolo Numerico: consegna 4</a:t>
            </a:r>
          </a:p>
        </p:txBody>
      </p:sp>
    </p:spTree>
    <p:extLst>
      <p:ext uri="{BB962C8B-B14F-4D97-AF65-F5344CB8AC3E}">
        <p14:creationId xmlns:p14="http://schemas.microsoft.com/office/powerpoint/2010/main" val="287764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E28A5C-D244-6FAE-0071-6019425E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114926"/>
          </a:xfrm>
        </p:spPr>
        <p:txBody>
          <a:bodyPr/>
          <a:lstStyle/>
          <a:p>
            <a:r>
              <a:rPr lang="it-IT" dirty="0"/>
              <a:t>Presentazione Dataset</a:t>
            </a:r>
            <a:endParaRPr lang="LID4096" dirty="0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CA304C21-85F6-3D78-5F84-016755767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98068" y="1447800"/>
            <a:ext cx="4572000" cy="4572000"/>
          </a:xfrm>
          <a:prstGeom prst="rect">
            <a:avLst/>
          </a:prstGeom>
          <a:ln>
            <a:noFill/>
          </a:ln>
          <a:effectLst>
            <a:softEdge rad="254000"/>
          </a:effectLst>
          <a:scene3d>
            <a:camera prst="orthographicFront">
              <a:rot lat="0" lon="0" rev="10799999"/>
            </a:camera>
            <a:lightRig rig="threePt" dir="t"/>
          </a:scene3d>
        </p:spPr>
      </p:pic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3BBCD4B-4AF5-C122-1892-B80DE9CB0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562726"/>
            <a:ext cx="3401063" cy="3462153"/>
          </a:xfrm>
        </p:spPr>
        <p:txBody>
          <a:bodyPr>
            <a:normAutofit/>
          </a:bodyPr>
          <a:lstStyle/>
          <a:p>
            <a:r>
              <a:rPr lang="it-IT" dirty="0"/>
              <a:t>Abbiamo scelto come dataset di riferimento la comparsa di </a:t>
            </a:r>
            <a:r>
              <a:rPr lang="it-IT" dirty="0">
                <a:solidFill>
                  <a:schemeClr val="accent1"/>
                </a:solidFill>
              </a:rPr>
              <a:t>macchie sulla superficie solare</a:t>
            </a:r>
            <a:r>
              <a:rPr lang="it-IT" dirty="0"/>
              <a:t>; queste macchie appaiono scure in quanto risultano significativamente più fredde rispetto alle zone ad esse circostanti.</a:t>
            </a:r>
          </a:p>
          <a:p>
            <a:r>
              <a:rPr lang="it-IT" dirty="0"/>
              <a:t>Il vantaggio principale offerto da questo dataset è la </a:t>
            </a:r>
            <a:r>
              <a:rPr lang="it-IT" dirty="0">
                <a:solidFill>
                  <a:schemeClr val="accent1"/>
                </a:solidFill>
              </a:rPr>
              <a:t>ciclicità</a:t>
            </a:r>
            <a:r>
              <a:rPr lang="it-IT" dirty="0"/>
              <a:t>, mentre uno svantaggio potrebbe essere il </a:t>
            </a:r>
            <a:r>
              <a:rPr lang="it-IT" dirty="0">
                <a:solidFill>
                  <a:schemeClr val="accent1"/>
                </a:solidFill>
              </a:rPr>
              <a:t>rumore</a:t>
            </a:r>
            <a:r>
              <a:rPr lang="it-IT" dirty="0"/>
              <a:t>, in quanto le macchie hanno durata variabile e non sono semplicemente riconoscibili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8572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EC6569-9704-2270-7D5E-8F5451009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9540000" cy="1368000"/>
          </a:xfrm>
        </p:spPr>
        <p:txBody>
          <a:bodyPr/>
          <a:lstStyle/>
          <a:p>
            <a:r>
              <a:rPr lang="it-IT" dirty="0"/>
              <a:t>Metodo: Fitting ai minimi quadrati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contenuto 6">
                <a:extLst>
                  <a:ext uri="{FF2B5EF4-FFF2-40B4-BE49-F238E27FC236}">
                    <a16:creationId xmlns:a16="http://schemas.microsoft.com/office/drawing/2014/main" id="{8E5B7961-C162-7B20-E473-18B720A2247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ar-A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7" name="Segnaposto contenuto 6">
                <a:extLst>
                  <a:ext uri="{FF2B5EF4-FFF2-40B4-BE49-F238E27FC236}">
                    <a16:creationId xmlns:a16="http://schemas.microsoft.com/office/drawing/2014/main" id="{8E5B7961-C162-7B20-E473-18B720A22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egnaposto contenuto 7">
                <a:extLst>
                  <a:ext uri="{FF2B5EF4-FFF2-40B4-BE49-F238E27FC236}">
                    <a16:creationId xmlns:a16="http://schemas.microsoft.com/office/drawing/2014/main" id="{74E63395-6702-B0EC-9BF7-929E9407F8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54493" y="2056092"/>
                <a:ext cx="4531617" cy="420024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 dirty="0"/>
                  <a:t>Utilizzando un metodo di fitting avremo una differenza (</a:t>
                </a:r>
                <a:r>
                  <a:rPr lang="it-IT" dirty="0">
                    <a:solidFill>
                      <a:schemeClr val="accent1"/>
                    </a:solidFill>
                  </a:rPr>
                  <a:t>residuo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) tra i dati reali misurati e i dati del modello.</a:t>
                </a:r>
              </a:p>
              <a:p>
                <a:pPr marL="0" indent="0">
                  <a:buNone/>
                </a:pPr>
                <a:r>
                  <a:rPr lang="it-IT" dirty="0"/>
                  <a:t>Siccome il </a:t>
                </a:r>
                <a:r>
                  <a:rPr lang="it-IT" dirty="0">
                    <a:solidFill>
                      <a:schemeClr val="accent1"/>
                    </a:solidFill>
                  </a:rPr>
                  <a:t>calcolo dell’errore globale </a:t>
                </a:r>
                <a:r>
                  <a:rPr lang="it-IT" dirty="0"/>
                  <a:t>si basa su questa differenza, non possiamo soltanto sommare gli errori su tutti i dati a nostra disposizione, in quanto alcuni residui sono positivi ed altri negativi (risultando in un annullamento reciproco).</a:t>
                </a:r>
              </a:p>
              <a:p>
                <a:pPr marL="0" indent="0">
                  <a:buNone/>
                </a:pPr>
                <a:r>
                  <a:rPr lang="it-IT" dirty="0"/>
                  <a:t>Per ovviare a questo problema, calcoleremo l’errore con il </a:t>
                </a:r>
                <a:r>
                  <a:rPr lang="it-IT" dirty="0">
                    <a:solidFill>
                      <a:schemeClr val="accent1"/>
                    </a:solidFill>
                  </a:rPr>
                  <a:t>metodo dei minimi quadrati</a:t>
                </a:r>
                <a:r>
                  <a:rPr lang="it-IT" dirty="0"/>
                  <a:t>.</a:t>
                </a:r>
                <a:endParaRPr lang="LID4096" dirty="0"/>
              </a:p>
            </p:txBody>
          </p:sp>
        </mc:Choice>
        <mc:Fallback xmlns="">
          <p:sp>
            <p:nvSpPr>
              <p:cNvPr id="8" name="Segnaposto contenuto 7">
                <a:extLst>
                  <a:ext uri="{FF2B5EF4-FFF2-40B4-BE49-F238E27FC236}">
                    <a16:creationId xmlns:a16="http://schemas.microsoft.com/office/drawing/2014/main" id="{74E63395-6702-B0EC-9BF7-929E9407F8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54493" y="2056092"/>
                <a:ext cx="4531617" cy="4200245"/>
              </a:xfrm>
              <a:blipFill>
                <a:blip r:embed="rId3"/>
                <a:stretch>
                  <a:fillRect l="-1211" t="-726" r="-228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3335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olo 12">
            <a:extLst>
              <a:ext uri="{FF2B5EF4-FFF2-40B4-BE49-F238E27FC236}">
                <a16:creationId xmlns:a16="http://schemas.microsoft.com/office/drawing/2014/main" id="{C9C538A8-2482-AC14-EB09-D074AB120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Modelli polinomiali</a:t>
            </a:r>
            <a:endParaRPr lang="LID4096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34780E25-F909-3F84-EEDE-154F8E18F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Polinomio di 3° grado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egnaposto contenuto 14">
                <a:extLst>
                  <a:ext uri="{FF2B5EF4-FFF2-40B4-BE49-F238E27FC236}">
                    <a16:creationId xmlns:a16="http://schemas.microsoft.com/office/drawing/2014/main" id="{265087CE-BDB4-D6A8-C59F-14A5A5AF160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103311" y="2828607"/>
                <a:ext cx="4396339" cy="936000"/>
              </a:xfrm>
            </p:spPr>
            <p:txBody>
              <a:bodyPr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5" name="Segnaposto contenuto 14">
                <a:extLst>
                  <a:ext uri="{FF2B5EF4-FFF2-40B4-BE49-F238E27FC236}">
                    <a16:creationId xmlns:a16="http://schemas.microsoft.com/office/drawing/2014/main" id="{265087CE-BDB4-D6A8-C59F-14A5A5AF1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03311" y="2828607"/>
                <a:ext cx="4396339" cy="936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E5716D4-BDFA-A1A9-0CAB-0EF00842B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/>
              <a:t>Polinomio di grado 28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egnaposto contenuto 16">
                <a:extLst>
                  <a:ext uri="{FF2B5EF4-FFF2-40B4-BE49-F238E27FC236}">
                    <a16:creationId xmlns:a16="http://schemas.microsoft.com/office/drawing/2014/main" id="{F2D2888B-8454-D02F-BDF0-759CA8876B40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5654495" y="2828607"/>
                <a:ext cx="4396339" cy="936000"/>
              </a:xfrm>
            </p:spPr>
            <p:txBody>
              <a:bodyPr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sub>
                      </m:sSub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sup>
                      </m:sSup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7" name="Segnaposto contenuto 16">
                <a:extLst>
                  <a:ext uri="{FF2B5EF4-FFF2-40B4-BE49-F238E27FC236}">
                    <a16:creationId xmlns:a16="http://schemas.microsoft.com/office/drawing/2014/main" id="{F2D2888B-8454-D02F-BDF0-759CA8876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5654495" y="2828607"/>
                <a:ext cx="4396339" cy="9360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egnaposto contenuto 14">
            <a:extLst>
              <a:ext uri="{FF2B5EF4-FFF2-40B4-BE49-F238E27FC236}">
                <a16:creationId xmlns:a16="http://schemas.microsoft.com/office/drawing/2014/main" id="{C59DF640-AAE2-2876-D31B-205CACBD7907}"/>
              </a:ext>
            </a:extLst>
          </p:cNvPr>
          <p:cNvSpPr txBox="1">
            <a:spLocks/>
          </p:cNvSpPr>
          <p:nvPr/>
        </p:nvSpPr>
        <p:spPr>
          <a:xfrm>
            <a:off x="1103312" y="4533282"/>
            <a:ext cx="4396339" cy="18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LID4096"/>
          </a:p>
        </p:txBody>
      </p:sp>
      <p:sp>
        <p:nvSpPr>
          <p:cNvPr id="19" name="Segnaposto contenuto 14">
            <a:extLst>
              <a:ext uri="{FF2B5EF4-FFF2-40B4-BE49-F238E27FC236}">
                <a16:creationId xmlns:a16="http://schemas.microsoft.com/office/drawing/2014/main" id="{88FB10C6-24A6-B320-292C-FD252941E5C9}"/>
              </a:ext>
            </a:extLst>
          </p:cNvPr>
          <p:cNvSpPr txBox="1">
            <a:spLocks/>
          </p:cNvSpPr>
          <p:nvPr/>
        </p:nvSpPr>
        <p:spPr>
          <a:xfrm>
            <a:off x="1103312" y="4533282"/>
            <a:ext cx="4396339" cy="18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LID4096"/>
          </a:p>
        </p:txBody>
      </p:sp>
      <p:sp>
        <p:nvSpPr>
          <p:cNvPr id="20" name="Segnaposto contenuto 16">
            <a:extLst>
              <a:ext uri="{FF2B5EF4-FFF2-40B4-BE49-F238E27FC236}">
                <a16:creationId xmlns:a16="http://schemas.microsoft.com/office/drawing/2014/main" id="{1CD8CD84-7F18-AEC5-E107-4588AE5F650E}"/>
              </a:ext>
            </a:extLst>
          </p:cNvPr>
          <p:cNvSpPr txBox="1">
            <a:spLocks/>
          </p:cNvSpPr>
          <p:nvPr/>
        </p:nvSpPr>
        <p:spPr>
          <a:xfrm>
            <a:off x="5654495" y="4533282"/>
            <a:ext cx="4396339" cy="18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LID4096"/>
          </a:p>
        </p:txBody>
      </p:sp>
      <p:sp>
        <p:nvSpPr>
          <p:cNvPr id="21" name="Segnaposto contenuto 14">
            <a:extLst>
              <a:ext uri="{FF2B5EF4-FFF2-40B4-BE49-F238E27FC236}">
                <a16:creationId xmlns:a16="http://schemas.microsoft.com/office/drawing/2014/main" id="{E133E891-3B00-B635-A4F0-40C5D5AFA7C7}"/>
              </a:ext>
            </a:extLst>
          </p:cNvPr>
          <p:cNvSpPr txBox="1">
            <a:spLocks/>
          </p:cNvSpPr>
          <p:nvPr/>
        </p:nvSpPr>
        <p:spPr>
          <a:xfrm>
            <a:off x="1103312" y="4111952"/>
            <a:ext cx="4396339" cy="21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it-IT" dirty="0"/>
              <a:t>È il modello più semplice tra quelli testati, ma ci da un’idea di: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Crescenza e decrescenza in determinati intervalli.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Cambiamenti graduali.</a:t>
            </a:r>
            <a:endParaRPr lang="LID4096" dirty="0"/>
          </a:p>
        </p:txBody>
      </p:sp>
      <p:sp>
        <p:nvSpPr>
          <p:cNvPr id="22" name="Segnaposto contenuto 16">
            <a:extLst>
              <a:ext uri="{FF2B5EF4-FFF2-40B4-BE49-F238E27FC236}">
                <a16:creationId xmlns:a16="http://schemas.microsoft.com/office/drawing/2014/main" id="{2B01D199-1A59-7F8D-B748-3A406DE6A654}"/>
              </a:ext>
            </a:extLst>
          </p:cNvPr>
          <p:cNvSpPr txBox="1">
            <a:spLocks/>
          </p:cNvSpPr>
          <p:nvPr/>
        </p:nvSpPr>
        <p:spPr>
          <a:xfrm>
            <a:off x="5654495" y="4533282"/>
            <a:ext cx="4396339" cy="18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LID4096"/>
          </a:p>
        </p:txBody>
      </p:sp>
      <p:sp>
        <p:nvSpPr>
          <p:cNvPr id="23" name="Segnaposto contenuto 14">
            <a:extLst>
              <a:ext uri="{FF2B5EF4-FFF2-40B4-BE49-F238E27FC236}">
                <a16:creationId xmlns:a16="http://schemas.microsoft.com/office/drawing/2014/main" id="{E7F94F54-6129-C208-A151-FFB211489F5D}"/>
              </a:ext>
            </a:extLst>
          </p:cNvPr>
          <p:cNvSpPr txBox="1">
            <a:spLocks/>
          </p:cNvSpPr>
          <p:nvPr/>
        </p:nvSpPr>
        <p:spPr>
          <a:xfrm>
            <a:off x="5654495" y="4111952"/>
            <a:ext cx="4396339" cy="21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it-IT" dirty="0"/>
              <a:t>Tecnicamente, lo stesso modello del precedente, ma di complessità aumentata; l’utilizzo di un polinomiale d’alto grado ci permette di osservare come meglio si adatta la curva ai dati in nostro possesso.</a:t>
            </a:r>
          </a:p>
        </p:txBody>
      </p:sp>
    </p:spTree>
    <p:extLst>
      <p:ext uri="{BB962C8B-B14F-4D97-AF65-F5344CB8AC3E}">
        <p14:creationId xmlns:p14="http://schemas.microsoft.com/office/powerpoint/2010/main" val="162562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ED817-F69E-8DF2-C03E-9ADB7F9DB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olo 12">
            <a:extLst>
              <a:ext uri="{FF2B5EF4-FFF2-40B4-BE49-F238E27FC236}">
                <a16:creationId xmlns:a16="http://schemas.microsoft.com/office/drawing/2014/main" id="{C7CE64B9-4BFA-C5E8-56EE-A918ADD1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Modelli sinusoidali</a:t>
            </a:r>
            <a:endParaRPr lang="LID4096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25E5440F-E771-0BAF-6E5D-3A5FB0A2F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Sinusoide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egnaposto contenuto 14">
                <a:extLst>
                  <a:ext uri="{FF2B5EF4-FFF2-40B4-BE49-F238E27FC236}">
                    <a16:creationId xmlns:a16="http://schemas.microsoft.com/office/drawing/2014/main" id="{78EEF723-6D5B-C000-3739-2035CDCAF5F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103311" y="2828607"/>
                <a:ext cx="4396339" cy="936000"/>
              </a:xfrm>
            </p:spPr>
            <p:txBody>
              <a:bodyPr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5" name="Segnaposto contenuto 14">
                <a:extLst>
                  <a:ext uri="{FF2B5EF4-FFF2-40B4-BE49-F238E27FC236}">
                    <a16:creationId xmlns:a16="http://schemas.microsoft.com/office/drawing/2014/main" id="{78EEF723-6D5B-C000-3739-2035CDCAF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03311" y="2828607"/>
                <a:ext cx="4396339" cy="936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01E1FA44-960A-57E2-AFB4-2A49BEBD4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/>
              <a:t>Serie di Fourier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egnaposto contenuto 16">
                <a:extLst>
                  <a:ext uri="{FF2B5EF4-FFF2-40B4-BE49-F238E27FC236}">
                    <a16:creationId xmlns:a16="http://schemas.microsoft.com/office/drawing/2014/main" id="{2D8C5FC6-C347-8953-FAF5-8140E4472E30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5654495" y="2828607"/>
                <a:ext cx="4396339" cy="936000"/>
              </a:xfrm>
            </p:spPr>
            <p:txBody>
              <a:bodyPr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t-IT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7" name="Segnaposto contenuto 16">
                <a:extLst>
                  <a:ext uri="{FF2B5EF4-FFF2-40B4-BE49-F238E27FC236}">
                    <a16:creationId xmlns:a16="http://schemas.microsoft.com/office/drawing/2014/main" id="{2D8C5FC6-C347-8953-FAF5-8140E4472E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5654495" y="2828607"/>
                <a:ext cx="4396339" cy="9360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egnaposto contenuto 14">
            <a:extLst>
              <a:ext uri="{FF2B5EF4-FFF2-40B4-BE49-F238E27FC236}">
                <a16:creationId xmlns:a16="http://schemas.microsoft.com/office/drawing/2014/main" id="{54ED487F-5180-BAE6-72E8-F30A0E7513C7}"/>
              </a:ext>
            </a:extLst>
          </p:cNvPr>
          <p:cNvSpPr txBox="1">
            <a:spLocks/>
          </p:cNvSpPr>
          <p:nvPr/>
        </p:nvSpPr>
        <p:spPr>
          <a:xfrm>
            <a:off x="1103312" y="4533282"/>
            <a:ext cx="4396339" cy="18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LID4096"/>
          </a:p>
        </p:txBody>
      </p:sp>
      <p:sp>
        <p:nvSpPr>
          <p:cNvPr id="19" name="Segnaposto contenuto 14">
            <a:extLst>
              <a:ext uri="{FF2B5EF4-FFF2-40B4-BE49-F238E27FC236}">
                <a16:creationId xmlns:a16="http://schemas.microsoft.com/office/drawing/2014/main" id="{E21E12BC-782B-2A3B-536A-3128DD465380}"/>
              </a:ext>
            </a:extLst>
          </p:cNvPr>
          <p:cNvSpPr txBox="1">
            <a:spLocks/>
          </p:cNvSpPr>
          <p:nvPr/>
        </p:nvSpPr>
        <p:spPr>
          <a:xfrm>
            <a:off x="1103312" y="4533282"/>
            <a:ext cx="4396339" cy="18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LID4096"/>
          </a:p>
        </p:txBody>
      </p:sp>
      <p:sp>
        <p:nvSpPr>
          <p:cNvPr id="20" name="Segnaposto contenuto 16">
            <a:extLst>
              <a:ext uri="{FF2B5EF4-FFF2-40B4-BE49-F238E27FC236}">
                <a16:creationId xmlns:a16="http://schemas.microsoft.com/office/drawing/2014/main" id="{D00B16DD-7139-B2B0-0F0B-A38EBC2B8A0B}"/>
              </a:ext>
            </a:extLst>
          </p:cNvPr>
          <p:cNvSpPr txBox="1">
            <a:spLocks/>
          </p:cNvSpPr>
          <p:nvPr/>
        </p:nvSpPr>
        <p:spPr>
          <a:xfrm>
            <a:off x="5654495" y="4533282"/>
            <a:ext cx="4396339" cy="18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LID4096"/>
          </a:p>
        </p:txBody>
      </p:sp>
      <p:sp>
        <p:nvSpPr>
          <p:cNvPr id="21" name="Segnaposto contenuto 14">
            <a:extLst>
              <a:ext uri="{FF2B5EF4-FFF2-40B4-BE49-F238E27FC236}">
                <a16:creationId xmlns:a16="http://schemas.microsoft.com/office/drawing/2014/main" id="{30CD37CC-A803-9082-6F16-B68F8BAD652F}"/>
              </a:ext>
            </a:extLst>
          </p:cNvPr>
          <p:cNvSpPr txBox="1">
            <a:spLocks/>
          </p:cNvSpPr>
          <p:nvPr/>
        </p:nvSpPr>
        <p:spPr>
          <a:xfrm>
            <a:off x="1103312" y="4111952"/>
            <a:ext cx="4396339" cy="21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it-IT" dirty="0"/>
              <a:t>L’analisi dei dati mostrano un aumento d’attività in un ciclo di circa 11 anni, quindi stiamo analizzando un fenomeno periodico.</a:t>
            </a:r>
          </a:p>
        </p:txBody>
      </p:sp>
      <p:sp>
        <p:nvSpPr>
          <p:cNvPr id="22" name="Segnaposto contenuto 16">
            <a:extLst>
              <a:ext uri="{FF2B5EF4-FFF2-40B4-BE49-F238E27FC236}">
                <a16:creationId xmlns:a16="http://schemas.microsoft.com/office/drawing/2014/main" id="{92135F51-C4C1-9216-AE5F-B61FC58CCA1D}"/>
              </a:ext>
            </a:extLst>
          </p:cNvPr>
          <p:cNvSpPr txBox="1">
            <a:spLocks/>
          </p:cNvSpPr>
          <p:nvPr/>
        </p:nvSpPr>
        <p:spPr>
          <a:xfrm>
            <a:off x="5654495" y="4533282"/>
            <a:ext cx="4396339" cy="18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LID4096"/>
          </a:p>
        </p:txBody>
      </p:sp>
      <p:sp>
        <p:nvSpPr>
          <p:cNvPr id="23" name="Segnaposto contenuto 14">
            <a:extLst>
              <a:ext uri="{FF2B5EF4-FFF2-40B4-BE49-F238E27FC236}">
                <a16:creationId xmlns:a16="http://schemas.microsoft.com/office/drawing/2014/main" id="{1797E0DA-0B5F-738B-C702-F81446B749C2}"/>
              </a:ext>
            </a:extLst>
          </p:cNvPr>
          <p:cNvSpPr txBox="1">
            <a:spLocks/>
          </p:cNvSpPr>
          <p:nvPr/>
        </p:nvSpPr>
        <p:spPr>
          <a:xfrm>
            <a:off x="5654495" y="4111952"/>
            <a:ext cx="4396339" cy="21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it-IT" dirty="0"/>
              <a:t>Siccome il ciclo solare non è perfettamente descrivibile da un sinusoide, possiamo aggiungere una seconda armonica per ottenere una maggiore flessibilità e una descrizione più accurata della curva.</a:t>
            </a:r>
          </a:p>
        </p:txBody>
      </p:sp>
    </p:spTree>
    <p:extLst>
      <p:ext uri="{BB962C8B-B14F-4D97-AF65-F5344CB8AC3E}">
        <p14:creationId xmlns:p14="http://schemas.microsoft.com/office/powerpoint/2010/main" val="349053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1DDF3354-2B1C-88AD-34E9-3B63FF65E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 modelli a confronto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Segnaposto contenuto 8">
                <a:extLst>
                  <a:ext uri="{FF2B5EF4-FFF2-40B4-BE49-F238E27FC236}">
                    <a16:creationId xmlns:a16="http://schemas.microsoft.com/office/drawing/2014/main" id="{68D2E9B5-6EAD-A7EE-1FC8-4A3AA89602D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12549767"/>
                  </p:ext>
                </p:extLst>
              </p:nvPr>
            </p:nvGraphicFramePr>
            <p:xfrm>
              <a:off x="1103313" y="2052638"/>
              <a:ext cx="8947150" cy="239268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789430">
                      <a:extLst>
                        <a:ext uri="{9D8B030D-6E8A-4147-A177-3AD203B41FA5}">
                          <a16:colId xmlns:a16="http://schemas.microsoft.com/office/drawing/2014/main" val="4002956961"/>
                        </a:ext>
                      </a:extLst>
                    </a:gridCol>
                    <a:gridCol w="1789430">
                      <a:extLst>
                        <a:ext uri="{9D8B030D-6E8A-4147-A177-3AD203B41FA5}">
                          <a16:colId xmlns:a16="http://schemas.microsoft.com/office/drawing/2014/main" val="4232639124"/>
                        </a:ext>
                      </a:extLst>
                    </a:gridCol>
                    <a:gridCol w="1789430">
                      <a:extLst>
                        <a:ext uri="{9D8B030D-6E8A-4147-A177-3AD203B41FA5}">
                          <a16:colId xmlns:a16="http://schemas.microsoft.com/office/drawing/2014/main" val="3171824712"/>
                        </a:ext>
                      </a:extLst>
                    </a:gridCol>
                    <a:gridCol w="1789430">
                      <a:extLst>
                        <a:ext uri="{9D8B030D-6E8A-4147-A177-3AD203B41FA5}">
                          <a16:colId xmlns:a16="http://schemas.microsoft.com/office/drawing/2014/main" val="1448564165"/>
                        </a:ext>
                      </a:extLst>
                    </a:gridCol>
                    <a:gridCol w="1789430">
                      <a:extLst>
                        <a:ext uri="{9D8B030D-6E8A-4147-A177-3AD203B41FA5}">
                          <a16:colId xmlns:a16="http://schemas.microsoft.com/office/drawing/2014/main" val="20753609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LID4096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b="0" dirty="0"/>
                            <a:t>N° parametri</a:t>
                          </a:r>
                          <a:endParaRPr lang="LID4096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b="0" dirty="0"/>
                            <a:t>Periodicità</a:t>
                          </a:r>
                          <a:endParaRPr lang="LID4096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b="0" dirty="0"/>
                            <a:t>RMSE</a:t>
                          </a:r>
                          <a:endParaRPr lang="LID4096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LID4096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3722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dirty="0"/>
                            <a:t>Polinomiale 3° grado</a:t>
                          </a:r>
                          <a:endParaRPr lang="LID4096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4</a:t>
                          </a:r>
                          <a:endParaRPr lang="LID4096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No</a:t>
                          </a:r>
                          <a:endParaRPr lang="LID4096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67,2050</a:t>
                          </a:r>
                          <a:endParaRPr lang="LID4096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0,0198</a:t>
                          </a:r>
                          <a:endParaRPr lang="LID4096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119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dirty="0"/>
                            <a:t>Polinomiale grado 28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29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No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60,8986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0,1951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64801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dirty="0"/>
                            <a:t>Sinusoide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3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Si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59,2118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0,2391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796386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dirty="0"/>
                            <a:t>Fourier</a:t>
                          </a:r>
                          <a:endParaRPr lang="LID4096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5</a:t>
                          </a:r>
                          <a:endParaRPr lang="LID4096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Si</a:t>
                          </a:r>
                          <a:endParaRPr lang="LID4096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58,9534</a:t>
                          </a:r>
                          <a:endParaRPr lang="LID4096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0,2457</a:t>
                          </a:r>
                          <a:endParaRPr lang="LID4096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619915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Segnaposto contenuto 8">
                <a:extLst>
                  <a:ext uri="{FF2B5EF4-FFF2-40B4-BE49-F238E27FC236}">
                    <a16:creationId xmlns:a16="http://schemas.microsoft.com/office/drawing/2014/main" id="{68D2E9B5-6EAD-A7EE-1FC8-4A3AA89602D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12549767"/>
                  </p:ext>
                </p:extLst>
              </p:nvPr>
            </p:nvGraphicFramePr>
            <p:xfrm>
              <a:off x="1103313" y="2052638"/>
              <a:ext cx="8947150" cy="239268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789430">
                      <a:extLst>
                        <a:ext uri="{9D8B030D-6E8A-4147-A177-3AD203B41FA5}">
                          <a16:colId xmlns:a16="http://schemas.microsoft.com/office/drawing/2014/main" val="4002956961"/>
                        </a:ext>
                      </a:extLst>
                    </a:gridCol>
                    <a:gridCol w="1789430">
                      <a:extLst>
                        <a:ext uri="{9D8B030D-6E8A-4147-A177-3AD203B41FA5}">
                          <a16:colId xmlns:a16="http://schemas.microsoft.com/office/drawing/2014/main" val="4232639124"/>
                        </a:ext>
                      </a:extLst>
                    </a:gridCol>
                    <a:gridCol w="1789430">
                      <a:extLst>
                        <a:ext uri="{9D8B030D-6E8A-4147-A177-3AD203B41FA5}">
                          <a16:colId xmlns:a16="http://schemas.microsoft.com/office/drawing/2014/main" val="3171824712"/>
                        </a:ext>
                      </a:extLst>
                    </a:gridCol>
                    <a:gridCol w="1789430">
                      <a:extLst>
                        <a:ext uri="{9D8B030D-6E8A-4147-A177-3AD203B41FA5}">
                          <a16:colId xmlns:a16="http://schemas.microsoft.com/office/drawing/2014/main" val="1448564165"/>
                        </a:ext>
                      </a:extLst>
                    </a:gridCol>
                    <a:gridCol w="1789430">
                      <a:extLst>
                        <a:ext uri="{9D8B030D-6E8A-4147-A177-3AD203B41FA5}">
                          <a16:colId xmlns:a16="http://schemas.microsoft.com/office/drawing/2014/main" val="20753609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LID4096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b="0" dirty="0"/>
                            <a:t>N° parametri</a:t>
                          </a:r>
                          <a:endParaRPr lang="LID4096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b="0" dirty="0"/>
                            <a:t>Periodicità</a:t>
                          </a:r>
                          <a:endParaRPr lang="LID4096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b="0" dirty="0"/>
                            <a:t>RMSE</a:t>
                          </a:r>
                          <a:endParaRPr lang="LID4096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660" t="-6557" r="-340" b="-5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372221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dirty="0"/>
                            <a:t>Polinomiale 3° grado</a:t>
                          </a:r>
                          <a:endParaRPr lang="LID4096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4</a:t>
                          </a:r>
                          <a:endParaRPr lang="LID4096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No</a:t>
                          </a:r>
                          <a:endParaRPr lang="LID4096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67,2050</a:t>
                          </a:r>
                          <a:endParaRPr lang="LID4096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0,0198</a:t>
                          </a:r>
                          <a:endParaRPr lang="LID4096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11902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dirty="0"/>
                            <a:t>Polinomiale grado 28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29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No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60,8986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0,1951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64801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dirty="0"/>
                            <a:t>Sinusoide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3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Si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59,2118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0,2391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796386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dirty="0"/>
                            <a:t>Fourier</a:t>
                          </a:r>
                          <a:endParaRPr lang="LID4096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5</a:t>
                          </a:r>
                          <a:endParaRPr lang="LID4096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Si</a:t>
                          </a:r>
                          <a:endParaRPr lang="LID4096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58,9534</a:t>
                          </a:r>
                          <a:endParaRPr lang="LID4096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0,2457</a:t>
                          </a:r>
                          <a:endParaRPr lang="LID4096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61991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egnaposto contenuto 14">
                <a:extLst>
                  <a:ext uri="{FF2B5EF4-FFF2-40B4-BE49-F238E27FC236}">
                    <a16:creationId xmlns:a16="http://schemas.microsoft.com/office/drawing/2014/main" id="{9B351092-2501-2C09-95C7-77C345912C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3312" y="5004753"/>
                <a:ext cx="8947150" cy="720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>
                  <a:buFont typeface="Arial" panose="020B0604020202020204" pitchFamily="34" charset="0"/>
                  <a:buChar char="•"/>
                </a:pPr>
                <a:r>
                  <a:rPr lang="it-IT" sz="1000" dirty="0"/>
                  <a:t>L’RMSE (Root Mean </a:t>
                </a:r>
                <a:r>
                  <a:rPr lang="it-IT" sz="1000" dirty="0" err="1"/>
                  <a:t>Square</a:t>
                </a:r>
                <a:r>
                  <a:rPr lang="it-IT" sz="1000" dirty="0"/>
                  <a:t> </a:t>
                </a:r>
                <a:r>
                  <a:rPr lang="it-IT" sz="1000" dirty="0" err="1"/>
                  <a:t>Error</a:t>
                </a:r>
                <a:r>
                  <a:rPr lang="it-IT" sz="1000" dirty="0"/>
                  <a:t>) indica l’errore medio del modello.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it-IT" sz="1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sz="1000" dirty="0"/>
                  <a:t> è il coefficiente di determinazione, ovvero un numero che ci indica quanto bene il modello riesce a spiegare la variabilità dei dati osservati.</a:t>
                </a:r>
              </a:p>
            </p:txBody>
          </p:sp>
        </mc:Choice>
        <mc:Fallback xmlns="">
          <p:sp>
            <p:nvSpPr>
              <p:cNvPr id="10" name="Segnaposto contenuto 14">
                <a:extLst>
                  <a:ext uri="{FF2B5EF4-FFF2-40B4-BE49-F238E27FC236}">
                    <a16:creationId xmlns:a16="http://schemas.microsoft.com/office/drawing/2014/main" id="{9B351092-2501-2C09-95C7-77C345912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312" y="5004753"/>
                <a:ext cx="8947150" cy="72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077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555068-0D67-A42A-A913-4B62A4A5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F5BD173-2B66-AA1C-9F16-5AC892E552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t-IT" dirty="0"/>
                  <a:t>Abbiamo notato che i modelli sinusoidali sono di gran lunga i migliori nel descrivere il fenomeno; tuttavia, è difficile decretare un vincitore assoluto in quanto: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Usando Fourier otteniamo </a:t>
                </a:r>
                <a:r>
                  <a:rPr lang="it-IT" dirty="0">
                    <a:solidFill>
                      <a:schemeClr val="accent1"/>
                    </a:solidFill>
                  </a:rPr>
                  <a:t>risultati più precisi </a:t>
                </a:r>
                <a:r>
                  <a:rPr lang="it-IT" dirty="0"/>
                  <a:t>(RMSE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/>
                  <a:t> migliori) ma dobbiamo tener conto di un </a:t>
                </a:r>
                <a:r>
                  <a:rPr lang="it-IT" u="sng" dirty="0"/>
                  <a:t>maggior numero di parametri</a:t>
                </a:r>
                <a:r>
                  <a:rPr lang="it-IT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Usando il sinusoide semplice impiegheremo </a:t>
                </a:r>
                <a:r>
                  <a:rPr lang="it-IT" dirty="0">
                    <a:solidFill>
                      <a:schemeClr val="accent1"/>
                    </a:solidFill>
                  </a:rPr>
                  <a:t>meno potere di calcolo </a:t>
                </a:r>
                <a:r>
                  <a:rPr lang="it-IT" dirty="0"/>
                  <a:t>(l’equazione è più semplice e richiede meno parametri), ma al contempo </a:t>
                </a:r>
                <a:r>
                  <a:rPr lang="it-IT" u="sng" dirty="0"/>
                  <a:t>descrive i dati in un modo leggermente peggiore</a:t>
                </a:r>
                <a:r>
                  <a:rPr lang="it-IT" dirty="0"/>
                  <a:t>.</a:t>
                </a:r>
              </a:p>
              <a:p>
                <a:pPr marL="0" indent="0">
                  <a:buNone/>
                </a:pPr>
                <a:r>
                  <a:rPr lang="it-IT" dirty="0"/>
                  <a:t>Sta quindi a chi deve effettivamente utilizzare i dati (stima di punti intermedi, previsione di dati futuri) capire quale metodo di fitting sia il più indicato.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F5BD173-2B66-AA1C-9F16-5AC892E552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872" r="-68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75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Arancione ross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691</TotalTime>
  <Words>532</Words>
  <Application>Microsoft Office PowerPoint</Application>
  <PresentationFormat>Widescreen</PresentationFormat>
  <Paragraphs>60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Century Gothic</vt:lpstr>
      <vt:lpstr>Wingdings 3</vt:lpstr>
      <vt:lpstr>Ione</vt:lpstr>
      <vt:lpstr>Approssimazione di dati reali</vt:lpstr>
      <vt:lpstr>Presentazione Dataset</vt:lpstr>
      <vt:lpstr>Metodo: Fitting ai minimi quadrati</vt:lpstr>
      <vt:lpstr>Modelli polinomiali</vt:lpstr>
      <vt:lpstr>Modelli sinusoidali</vt:lpstr>
      <vt:lpstr>I modelli a confronto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Riccardo Contesso</dc:creator>
  <cp:lastModifiedBy>Riccardo Contesso</cp:lastModifiedBy>
  <cp:revision>7</cp:revision>
  <dcterms:created xsi:type="dcterms:W3CDTF">2026-05-31T08:07:57Z</dcterms:created>
  <dcterms:modified xsi:type="dcterms:W3CDTF">2026-06-02T15:44:30Z</dcterms:modified>
</cp:coreProperties>
</file>